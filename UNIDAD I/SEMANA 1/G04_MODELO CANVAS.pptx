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5143500" cy="9144000"/>
  <p:embeddedFontLst>
    <p:embeddedFont>
      <p:font typeface="Helvetica Neue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fZwN0W76uTota0uLYAok+m/bC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E56615-2FFE-4433-8B46-1E304F0D16ED}">
  <a:tblStyle styleId="{63E56615-2FFE-4433-8B46-1E304F0D16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font" Target="fonts/HelveticaNeue-boldItalic.fntdata"/><Relationship Id="rId10" Type="http://schemas.openxmlformats.org/officeDocument/2006/relationships/font" Target="fonts/HelveticaNeue-italic.fntdata"/><Relationship Id="rId12" Type="http://customschemas.google.com/relationships/presentationmetadata" Target="metadata"/><Relationship Id="rId9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Diapositiva de portada. Presentar el equipo y el contexto del curso Soluciones Móviles 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Cierre. Invitar preguntas sobre la arquitectura MVVM, el flujo NLP o las reglas de negocio.</a:t>
            </a:r>
            <a:endParaRPr/>
          </a:p>
        </p:txBody>
      </p:sp>
      <p:sp>
        <p:nvSpPr>
          <p:cNvPr id="30" name="Google Shape;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4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32320" y="-548640"/>
            <a:ext cx="3017520" cy="3017520"/>
          </a:xfrm>
          <a:prstGeom prst="ellipse">
            <a:avLst/>
          </a:prstGeom>
          <a:solidFill>
            <a:srgbClr val="0D948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UNIVERSIDAD PRIVADA DE TACNA  |  Ingeniería de Sistemas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75" y="685800"/>
            <a:ext cx="2363700" cy="320100"/>
          </a:xfrm>
          <a:prstGeom prst="roundRect">
            <a:avLst>
              <a:gd fmla="val 22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Construcción</a:t>
            </a:r>
            <a:r>
              <a:rPr lang="en-US">
                <a:solidFill>
                  <a:schemeClr val="lt1"/>
                </a:solidFill>
              </a:rPr>
              <a:t> de Software 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422073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Estudiante</a:t>
            </a:r>
            <a:r>
              <a:rPr b="1" i="0" lang="en-US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Renzo Fernando Loyola Vilca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469336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Tacna – Perú  |  2026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3748093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Docente</a:t>
            </a:r>
            <a:r>
              <a:rPr b="1" i="0" lang="en-US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Mag. Ricardo Eduardo Valcarcel Alvarado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09725" y="685800"/>
            <a:ext cx="67026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del Modelo CANVAS (9 bloques)</a:t>
            </a:r>
            <a:r>
              <a:rPr lang="en-US" sz="4800">
                <a:solidFill>
                  <a:srgbClr val="FFFFFF"/>
                </a:solidFill>
              </a:rPr>
              <a:t> </a:t>
            </a:r>
            <a:endParaRPr sz="4800">
              <a:solidFill>
                <a:srgbClr val="FFFFFF"/>
              </a:solidFill>
            </a:endParaRPr>
          </a:p>
        </p:txBody>
      </p:sp>
      <p:pic>
        <p:nvPicPr>
          <p:cNvPr id="25" name="Google Shape;2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675" y="134650"/>
            <a:ext cx="2560325" cy="17922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326025" y="2829550"/>
            <a:ext cx="5927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1000"/>
              </a:spcAft>
              <a:buNone/>
            </a:pPr>
            <a:r>
              <a:rPr i="1" lang="en-US">
                <a:solidFill>
                  <a:schemeClr val="lt1"/>
                </a:solidFill>
              </a:rPr>
              <a:t>Sistema de Tutoría Inteligente mediante LLM para la mejora de la enseñanza de habilidades de programación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43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Google Shape;32;p14"/>
          <p:cNvGraphicFramePr/>
          <p:nvPr/>
        </p:nvGraphicFramePr>
        <p:xfrm>
          <a:off x="58825" y="5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{63E56615-2FFE-4433-8B46-1E304F0D16ED}</a:tableStyleId>
              </a:tblPr>
              <a:tblGrid>
                <a:gridCol w="1126850"/>
                <a:gridCol w="2305975"/>
                <a:gridCol w="1080400"/>
                <a:gridCol w="1080425"/>
                <a:gridCol w="1820625"/>
                <a:gridCol w="1612075"/>
              </a:tblGrid>
              <a:tr h="16652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SOCIOS CLAVE</a:t>
                      </a:r>
                      <a:r>
                        <a:rPr b="1" lang="en-US" sz="9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8</a:t>
                      </a:r>
                      <a:endParaRPr b="1" sz="9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Universidad Privada de Tacna.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EPIS-UPT.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Docentes y estudiantes.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Responsables de laboratorio.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 TI.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Asesor de tesis.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Proveedores de LLM y nube.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ACTIVIDADES CLAVE</a:t>
                      </a:r>
                      <a:r>
                        <a:rPr b="1" lang="en-US" sz="9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7</a:t>
                      </a:r>
                      <a:endParaRPr b="1" sz="9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de requerimientos.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Diseño y desarrollo de la plataforma.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Integración del LLM y RAG.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Indexación de guías oficiales.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Elaboración de prompts socráticos.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Pruebas y validación.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Aplicación del pretest y postest.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Análisis de resultados.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PROPUESTA DE VALOR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Tutor inteligente disponible mediante una plataforma web.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Pistas progresivas y preguntas socráticas.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Corrección guiada de errores sintácticos y lógicos.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Retroalimentación respaldada por las guías oficiales.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Fortalecimiento del pensamiento algorítmico.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Menor dependencia de código autogenerado.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RELACIÓN CON LOS CLIENTES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4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Tutoría automatizada personalizada.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Retroalimentación inmediata.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Seguimiento del progreso.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errores.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Soporte técnico.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Encuestas y mejora continua.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SEGMENTO DE CLIENTES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1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Estudiantes de los ciclos III, V y VI de la EPIS-UPT.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Estudiantes de programación en C++, Python y Java.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Docentes de programación.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Responsables de laboratorio.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Dirección de la EPIS-UPT.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E1EC"/>
                    </a:solidFill>
                  </a:tcPr>
                </a:tc>
              </a:tr>
              <a:tr h="13307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RECURSOS CLAVE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6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Tesistas, docentes y estudiantes.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Plataforma web y LLM.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Arquitectura RAG.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 de datos vectorial.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Servidor y conexión a Internet.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Guías oficiales de laboratorio.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Prompts socráticos y registros del sistema.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2F3"/>
                    </a:solidFill>
                  </a:tcPr>
                </a:tc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CANALES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3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Plataforma web.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Laboratorios EPIS-UPT.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Aula virtual.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Correo institucional.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Capacitaciones.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Manuales y videotutoriales.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 vMerge="1"/>
              </a:tr>
              <a:tr h="15446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ESTRUCTURA DE COSTOS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9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Desarrollo de la plataforma.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Consumo de API y tokens.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Servidor y base de datos vectorial.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Dominio y certificado SSL.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Pruebas y validación.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Capacitación.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Soporte y mantenimiento.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FLUJO DE INGRESOS</a:t>
                      </a:r>
                      <a:r>
                        <a:rPr b="1" lang="en-US" sz="800">
                          <a:solidFill>
                            <a:srgbClr val="D6006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5</a:t>
                      </a:r>
                      <a:endParaRPr b="1" sz="800">
                        <a:solidFill>
                          <a:srgbClr val="D6006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Recursos propios de los tesistas.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Infraestructura de la universidad.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Proyectos de innovación educativa.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Licenciamiento institucional futuro.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27000" lvl="0" marL="165100" rtl="0" algn="l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   </a:t>
                      </a:r>
                      <a:r>
                        <a:rPr lang="en-US" sz="8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Suscripciones, soporte y mantenimiento.</a:t>
                      </a:r>
                      <a:endParaRPr sz="80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2026-06-28T00:57:37Z</dcterms:created>
  <dc:creator>PptxGenJS</dc:creator>
</cp:coreProperties>
</file>